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4F46E5"/>
                </a:solidFill>
              </a:defRPr>
            </a:pPr>
            <a:r>
              <a:t>SMARTDESK AI</a:t>
            </a:r>
          </a:p>
          <a:p>
            <a:pPr>
              <a:spcBef>
                <a:spcPts val="800"/>
              </a:spcBef>
              <a:defRPr sz="2000">
                <a:solidFill>
                  <a:srgbClr val="1E293B"/>
                </a:solidFill>
              </a:defRPr>
            </a:pPr>
            <a:r>
              <a:t>Hệ Thống Trợ Lý Hỗ Trợ Khách Hàng Thông Minh &amp; Tự Động Hóa Tri Thức Đa Doanh Nghiệp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</a:defRPr>
            </a:pPr>
            <a:r>
              <a:t>Advanced Agentic &amp; Applied AI Systems — Final Project Defense (2026–2027)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474720"/>
            <a:ext cx="3291840" cy="2560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Dev B &amp; Integrator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Dương Bắp Vịt Hoàng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MSSV: 23110020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GitHub: @BapVitHoang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Platform, Database, Docker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OAuth2/JWT &amp;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3474720"/>
            <a:ext cx="3291840" cy="2560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Dev A (AI Engine)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Nguyễn Nhật Huy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MSSV: 23110029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GitHub: @TheOrijinnn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RAG Pipeline, Agent Tools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24-Case Benchmark Eval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3474720"/>
            <a:ext cx="3291840" cy="2560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Dev C (Frontend &amp; QA)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Trần Quốc Khánh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MSSV: 23110034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GitHub: @TKhanh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React 19 SPA, Telemetry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QA Tests &amp; 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Bối Cảnh Thực Tế &amp; Đặt Vấn Đề (Problem Statement)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Áp Lực CSKH Truyền Thống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&gt;60% yêu cầu lặp lại: Chính sách đổi trả, bảo hành, reset 2FA, biểu phí.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Thời gian phản hồi chậm (FRT &gt; 4–6h): Gây sụt giảm nghiêm trọng CSAT.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Chi phí nhân sự phình to: Khó mở rộng hỗ trợ 24/7 theo quy mô khách hàng.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Áp lực xử lý liên tục: Dễ dẫn đến sai sót và mâu thuẫn chính sách.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Hạn Chế Của Chatbot AI Thông Thường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Rủi ro ảo giác (Hallucination): Bịa đặt quyền lợi, cam kết sai hạn SLA.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Nút thắt hạn mức API (HTTP 429): Quá tải API Cloud làm tê liệt hệ thống.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Không có trích dẫn nguồn: Khách hàng không thể đối soát tài liệu gốc.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Thiếu kiểm duyệt tài liệu: Nạp thẳng tài liệu lỗi, mâu thuẫn vào trợ lý.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Giải Pháp Nền Tảng: SmartDesk AI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3832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1. Khách Hàng (Customer RAG)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Hỏi đáp tri thức tự nhiên &lt; 1,500ms.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Trích dẫn nguồn minh bạch (Citation Badges).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SSE Token-by-token streaming.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Hàng rào chặn Injection song ngữ.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Gửi ticket hỗ trợ chuẩn hóa #TICK-XXXX.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33832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2. Nhân Viên CSKH (Agent Copilot)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Hàng đợi ticket đa tiêu chí (Sắp xếp / Lọc).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AI Copilot phân loại danh mục tự động.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Tính hạn cam kết SLA chuẩn xác (2h/4h/8h/24h).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Soạn sẵn bản thảo phản hồi tiếng Việt.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Hỗ trợ xóa và hoàn tất ticket.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3832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3. Quản Trị Viên (Active Studio)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Không gian làm việc đa domain (Multi-Tenant).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Nạp tài liệu động (.pdf, .txt, .md).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Studio Sát hạch 3 tác tử (Faithfulness &gt;= 85%).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Giám sát Telemetry token &amp; chi phí thực.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Mạch ngắt Cost-Guard Circuit Breaker.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12 User Stories &amp; Ma Trận Truy Vết Yêu Cầu (RTM)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12 Câu Chuyện Người Dùng (US-01 .. US-12)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US-01: Tra cứu RAG kèm trích dẫn tài liệu.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US-02: Dự phòng Okapi BM25 khi ngắt mạch LLM.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US-03: Hàng rào chắn Prompt Injection &amp; Out-of-Scope.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US-04: Tạo ticket kèm SLA 2h/4h/8h/24h.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US-05: AI Copilot gán nhãn &amp; gợi ý bản thảo trả lời.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US-06: Sắp xếp, phân trang &amp; xóa ticket hàng đợi.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US-07: Cách ly tri thức đa Workspace (0% rò rỉ).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US-08: Ingestion tài liệu tự động chia đoạn 700 chars.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US-09: Sát hạch độ trung thực tài liệu 3 tác tử.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US-10: Dual AI (Gemini + Ollama) &amp; Cost-Guard 429.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US-11: Xác thực JWT HS256 &amp; phân quyền RBAC.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US-12: SSE Token Streaming &amp; Thẻ xác nhận 2 pha.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Cam Kết Ma Trận Truy Vết (Traceability)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100% User Stories liên kết trực tiếp tới API &amp; UI.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Mỗi tính năng đều có ít nhất 1 bài test tự động tương ứng.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Đường dẫn mã nguồn &amp; tên hàm kiểm thử có thật trong repo.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Đáp ứng hoàn hảo yêu cầu Understanding Gate (CRIT-08).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Tất cả 14 test trong test_api &amp; common passed cleanly.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Kiến Trúc Tổng Thể Hệ Thống (Architecture Overview)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3832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Lớp Frontend (React 19 SPA)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React 19 + Vite 6 + Tailwind CSS v4.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Tổ chức features/ theo lane sở hữu nghiêm ngặt.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Hỗ trợ SSE Streaming token trực tiếp.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Thẻ xác nhận hành động nhạy cảm 2 pha.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Chuyển đổi vai trò Admin / User 1-click.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33832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Lớp Backend (FastAPI Async ASGI)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Python 3.11+ bất đồng bộ 100% (Async/Await).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Hàng rào bảo mật Gateway (Bilingual Guardrails).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Mã hóa PII (Email, SĐT, CCCD) trước khi gọi LLM.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RAG Hybrid (Cosine vector + Okapi BM25).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Xác thực HS256 JWT, chống timing user enumeration.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3832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Lớp Lưu Trữ &amp; AI Engine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PostgreSQL 16 + pgvector (&lt;=&gt; Cosine distance).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Async SQLite fallback cho local development.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Cloud: Google Gemini 3.5 Flash Lite + gemini-embedding-001.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Local: Ollama Qwen2.5 3B + nomic-embed-text.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Offline: Okapi BM25 phi AI trên seed_faq.json.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4 Quyết Định Kiến Trúc Then Chốt (ADR-001 .. ADR-004)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2148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ADR-001: Dual AI Provider &amp; BM25 Fallback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Chống sập khi hết quota Cloud: Gemini -&gt; Ollama -&gt; Okapi BM25.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Cơ chế ngắt mạch 60s khi gặp HTTP 429 Rate Limit.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2148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ADR-002: Dual-Engine Vector Store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PostgreSQL pgvector cho Production, Async SQLite cho local dev.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SQLAlchemy Vector(768).with_variant(JSON(), 'sqlite').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120640" cy="2148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ADR-003: 3-Agent Active Knowledge Verification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Synthetic QA Exam -&gt; Sandbox RAG -&gt; Faithfulness Judge.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Ngăn chặn tài liệu sai lệch được xuất bản ra môi trường phục vụ.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ADR-004: React 19 SPA Thay Vì Next.js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Độc lập hoàn toàn với Backend qua REST/SSE, không dính SSR lock.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Build tĩnh siêu nhẹ (&lt; 420 KB), deploy tức thì trên Nginx.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Thiết Kế AI: Mô Hình Ngôn Ngữ &amp; Quản Lý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Mô Hình Ngôn Ngữ &amp; Embedding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Primary Cloud LLM: Google Gemini 3.5 Flash Lite (GA).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Cấu hình thinking_budget=0: Độ trễ phản hồi &lt; 1,200ms.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Secondary Fallback: gemini-2.5-flash-lite khi model chính lỗi.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Vector Embedding: gemini-embedding-001 (768 chiều vector).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Local Provider: Ollama qwen2.5:3b + nomic-embed-text.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Quản Lý Prompt Tập Trung (prompts.json)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8 mẫu Prompt phiên bản hóa trong backend/data/prompts.json.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Hot-reload tự động phát hiện thay đổi mtime không cần restart.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3 Persona chuyên biệt: IT SaaS, SmileCare, TechStore.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Enforce nhiệt độ temperature=0.2 cho RAG chính xác.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Dễ dàng biểu diễn kịch bản thay đổi trực tiếp (Live Change).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Tác Tử AI: 4 Công Cụ &amp; Thẻ Xác Nhận 2 Pha (Capability B)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4 DB-Backed Agent Tools (agent_tools.py)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1. lookup_customer_tickets: Tra cứu trạng thái phiếu của khách.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2. search_workspace_knowledge: Tìm kiếm kiến thức chuyên sâu.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3. create_escalation_ticket: Khởi tạo phiếu khi cần người can thiệp.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4. update_ticket_priority_or_status: Đổi độ ưu tiên / trạng thái.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Cơ Chế Xác Nhận 2 Pha (Two-Phase Execution)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Các công cụ ghi dữ liệu (Mutating tools) KHÔNG tự động thực thi.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Tạo đối tượng PendingActionSchema với action_id duy nhất.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Hiển thị Thẻ Xác Nhận trực quan trên giao diện chat.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Khách hàng bấm [Xác nhận thực thi] -&gt; POST /chat/confirm-action.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Khách hàng bấm [Hủy bỏ] -&gt; Hành động bị hủy, database an toàn.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Định Dạng Đầu Ra Cấu Trúc Bằng Pydantic v2 (Capability C)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Schema TicketCopilotStructuredOutput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category: Authentication, Billing, Bug Report, Feature Request, General.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priority: Urgent (2h), High (4h), Medium (8h), Low (24h).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estimated_response_hours: Số nguyên cam kết chuẩn mực.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ai_tags: 1 đến 4 thẻ tóm tắt ngắn gọn.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confidence: Điểm tin cậy từ 0.0 đến 1.0.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ai_draft_reply: Bản thảo câu trả lời tiếng Việt chỉn chu.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Single-Call Triage &amp; Normalization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Chỉ 1 lượt gọi LLM duy nhất: Vừa phân loại vừa soạn bản thảo.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Tiết kiệm 50% chi phí token và giảm 50% độ trễ tổng thể.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@field_validator tự động chuẩn hóa 'Technical Bug' -&gt; 'Bug Report'.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Fail-closed fallback: Gọi hàm dựng bản thảo cục bộ khi LLM lỗi.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100% dữ liệu tuân thủ kiểu nghiêm ngặt, không dùng dict tự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Studio Sát Hạch Tri Thức 3 Tác Tử (Active Verification)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3832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1. Synthetic QA Agent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Đọc hiểu toàn bộ các chunk của tài liệu tải lên.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Tự động sinh ra bộ câu hỏi sát hạch thử thách.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Kèm câu trả lời chuẩn (Ground Truth) trích từ nội dung.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33832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2. Sandbox RAG Agent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Gửi câu hỏi thử thách vào môi trường RAG độc lập.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Thực thi song song qua asyncio.gather().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Thu thập câu trả lời thực tế và các trích dẫn tài liệu.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3832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3. Faithfulness Judge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Đối soát câu trả lời thực tế với tài liệu gốc.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Chấm điểm trung thực (Faithfulness Score 0–100%).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Chỉ tài liệu đạt &gt;= 85% mới được phép xuất bản vào RAG.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An Toàn Bảo Mật, Hàng Rào Chắn &amp; Quyền Riêng Tư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Hàng Rào Chặn Prompt Injection Song Ngữ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Phát hiện jailbreak tiếng Anh: 'Ignore previous instructions', 'DAN mode'.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Phát hiện jailbreak tiếng Việt: 'Bỏ qua tất cả hướng dẫn', 'Nhà phát triển'.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Chặn đứng tại Gateway trong 0.05ms trước khi tới Database hay LLM.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Trả về HTTP 400 PROMPT_SECURITY_VIOLATION chuẩn hóa.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Tiết kiệm 100% token khi gặp cuộc tấn công ác 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Chính Sách Xóa Mờ Dữ Liệu Cá Nhân (redact_pii)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Email: nguyen.an@company.vn -&gt; [REDACTED_EMAIL].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Số điện thoại Việt Nam: 0912345678 -&gt; [REDACTED_PHONE].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CCCD / CMND: 079098765432 -&gt; [REDACTED_ID].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Thực hiện trước khi gọi Gemini API và trước khi tạo Vector Embedding.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Bảo toàn giá tiền và mã ticket trong câu hỏi.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Cost-Guard Circuit Breaker &amp; Dự Phòng Okapi BM25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Mạch Ngắt Cost-Guard Circuit Breaker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Kích hoạt khi gặp lỗi Google Gemini HTTP 429 ResourceExhausted.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Tự động khóa Cloud API trong 60 giây (cooldown_until = now + 60s).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Bảo vệ tài khoản khỏi cascade failure và chi phí phát sinh.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Giao diện Telemetry hiển thị cờ cảnh báo màu cam rõ ràng.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Cung cấp nút [Mở Khóa Cooldown 429] 1-click để reset tức thì.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Dự Phòng Okapi BM25 Hoàn Toàn Phi AI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Bộ so khớp từ khóa thuần Python trên seed_faq.json và custom chunks.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Phản hồi siêu tốc trong 12ms – 18ms khi Cloud AI gặp sự cố.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Trả về flag is_fallback: true và banner hướng dẫn khách hàng.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Gợi ý nút chuyển tiếp sang Ticket CSKH nếu chưa thỏa mãn.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Đảm bảo hệ thống đạt tính sẵn sàng 100% trong mọi tình huống.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Kết Quả Thực Nghiệm Bộ 24 Test Cases (Benchmark)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Đột Phá Tỷ Lệ Pass Rate (Before vs. After)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Normal (In-Scope, RAG &amp; Tools): 50.0% -&gt; 100.0% (10/10).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Edge (Không dấu, PII, Đa ý, Schema): 16.7% -&gt; 100.0% (6/6).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Should-Refuse (Prompt Injection &amp; Out-of-Scope): 25.0% -&gt; 100.0% (8/8).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Tổng thể toàn bộ benchmark: 33.3% (8/24) -&gt; 100.0% (24/24).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Cải thiện ấn tượng +66.7% (+16 test cases đạt chuẩn).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Hiệu Năng Độ Trễ &amp; Chi Phí Vận Hành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Độ trễ trung bình câu hỏi thường (Gemini 3.5): 920ms – 1,350ms (&lt; 1,500ms).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Độ trễ chế độ dự phòng BM25: 12ms – 18ms.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Thời gian chặn Prompt Injection tại Gateway: 0.05ms.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Chi phí ước tính: $0.00018 – $0.00035 USD / lượt tương tác.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Dữ liệu kiểm chứng thực tế tại docs/notes/A-eval-report.md.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Xác Thực JWT HS256 &amp; Phân Quyền Vai Trò (RBAC)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Bảo Mật Xác Thực &amp; Chống Lỗ Hổng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Mã hóa HS256 JWT chuẩn mang claims: sub, role, user_id, exp, iat.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Xác thực chứng chỉ công khai JWKS Google OAuth2 (Commit eef0af8).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Băm mật khẩu bằng scrypt kèm hằng số thời gian chống timing attacks.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Giới hạn tốc độ đăng nhập (login_throttle): 10 lần sai -&gt; HTTP 429.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Bộ test bảo mật chuyên biệt: backend/tests/platform/test_auth_security.py.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Phân Quyền Vai Trò (Admin vs User)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Khách hàng (User): Chỉ tra cứu và nhìn thấy các ticket của chính mình.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Hỗ trợ viên (Admin): Toàn quyền duyệt queue, xóa ticket, quản trị tri thức.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Khách hàng truy cập route Agent -&gt; HTTP 403 Forbidden.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Giao diện tự động ẩn và khóa Tab 3 (Agent) &amp; Tab 4 (Knowledge) khi là User.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Bộ chuyển đổi 1-click thuận tiện cho quá trình chấm thi và demo.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SMARTDESK AI — BẢO VỆ 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</a:defRPr>
            </a:pPr>
            <a:r>
              <a:t>Kết Luận &amp; Định Hướng Phát Triển Tương Lai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Thành Tựu Của Dự Án SmartDesk AI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Hoàn thiện 100% 12 User Stories và toàn bộ ma trận RTM.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Thời gian phản hồi RAG đạt chuẩn SLA đề tài (&lt; 1,500ms).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Cơ chế dự phòng BM25 và ngắt mạch Cost-Guard loại bỏ hoàn toàn downtime.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Studio Sát hạch Tri thức 3 tác tử tiên phong chống ảo giác dữ liệu.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Toàn bộ 100% bài kiểm thử Backend &amp; Frontend passed sạch sẽ.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4F46E5"/>
                </a:solidFill>
              </a:defRPr>
            </a:pPr>
            <a:r>
              <a:t>Định Hướng Phát Triển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Multimodal Document Processing: Dùng Gemini Vision đọc biểu đồ PDF.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Reranker Chuyên Sâu: Tích hợp Cohere Rerank / BGE-Reranker tăng độ chuẩn.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Omnichannel Integration: Mở rộng webhook kết nối Zalo, Telegram, Slack.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• Distributed Task Queue: Tích hợp Celery + Redis khi lượng tài liệu tăng cao.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