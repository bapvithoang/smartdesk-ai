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SMARTDESK AI</a:t>
            </a:r>
          </a:p>
          <a:p>
            <a:pPr>
              <a:defRPr sz="1400">
                <a:solidFill>
                  <a:srgbClr val="E0E7FF"/>
                </a:solidFill>
                <a:latin typeface="Arial"/>
              </a:defRPr>
            </a:pPr>
            <a:r>
              <a:t>Hệ Thống Trợ Lý Hỗ Trợ Khách Hàng Thông Minh &amp; Tự Động Hóa Tri Thức Đa Doanh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Môn học: Các Hệ thống AI Ứng dụng &amp; Agentic Nâng cao (2026–2027)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Thành viên thực hiện (Thông tin chính thức từ docs/TEAM_ROSTER.md):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  • Ngô Việt Hoàng (MSSV: 23110020) — Dev B &amp; Integrator (@BapVitHoang)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  • Lê Nguyên (MSSV: 23110043) — Dev A (@TheOrijinnn)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  • Tống Gia Khánh (MSSV: 23110032) — Dev C (@TKhanh)</a:t>
            </a:r>
          </a:p>
          <a:p>
            <a:pPr>
              <a:spcAft>
                <a:spcPts val="1000"/>
              </a:spcAft>
              <a:defRPr sz="1350">
                <a:solidFill>
                  <a:srgbClr val="F1F5F9"/>
                </a:solidFill>
                <a:latin typeface="Arial"/>
              </a:defRPr>
            </a:pPr>
            <a:r>
              <a:t>Báo cáo và tài liệu cuối kỳ được Hoàng tổng hợp với sự hỗ trợ của AI agent và được cả nhóm rà soát.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VẤN ĐỀ &amp; ĐỘNG LỰC THỰC TẾ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Những Thách Thức Lớn Trong Vận Hành Chăm Sóc Khách Hàng (CSKH)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Áp lực quá tải câu hỏi lặp lại: Hơn 60% yêu cầu liên quan đến các chính sách quen thuộc (hoàn tiền, 2FA, đổi trả).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Thời gian phản hồi đầu tiên (FRT) kéo dài: Trung bình từ 4 đến 12 giờ, gây giảm sút mức độ hài lòng khách hàng (CSAT).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Rủi ro AI ảo giác (Hallucination): Chatbot thông thường tự ý bịa đặt chính sách bảo hành hoặc cam kết sai thời hạn SLA.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Nguy cơ gián đoạn dịch vụ khi quá tải Cloud: Các hệ thống chỉ dựa vào một LLM Cloud dễ bị lỗi 429 Resource Exhausted làm tê liệt kênh hỗ trợ.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GIẢI PHÁP SMARTDESK AI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Nền Tảng Tự Động Hóa Hỗ Trợ Khách Hàng Đa Doanh Nghiệp Toàn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Customer RAG Chatbot: Phản hồi độ trễ thấp (&lt; 1,500ms) kèm trích dẫn nguồn minh bạch (Citation Badges) từng trang tài liệu.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Active Knowledge Verification Studio: Quy trình 3 tác tử tự động kiểm định độ trung thực trước khi xuất bản tài liệu.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AI Copilot Hỗ trợ Nhân viên: Tự động phân loại danh mục, tính cam kết SLA và soạn sẵn bản thảo trả lời tiếng Việt.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Deterministic Non-AI Fallback: Bộ so khớp Okapi BM25 phi AI trên 12 FAQ chuẩn kết hợp mạch ngắt Cost-Guard Cooldown 60s.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12 USER STORIES &amp; MA TRẬN TRUY VẾT (RTM)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Bao Phủ Toàn Diện Khách Hàng, Hỗ Trợ Viên &amp; Quản Trị Viên (REQ-24, REQ-25)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12 User Stories chuẩn mực (US-01 đến US-12) tuân thủ cấu trúc 'As a... I want... So that...' kèm tiêu chí chấp nhận cụ thể.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Khách hàng: US-01 (RAG Q&amp;A), US-02 (BM25 Fallback), US-04 (Tạo Ticket &amp; SLA), US-12 (SSE Streaming &amp; Thẻ xác nhận 2 pha).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Nhân viên CSKH: US-05 (AI Copilot Triage), US-06 (Sắp xếp, Lọc danh mục, Phân trang &amp; Xóa ticket).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Quản trị viên: US-07 (Workspaces đa tenant), US-08 (Nạp tài liệu PDF/MD), US-09 (Studio sát hạch), US-10 (Dual-Provider), US-11 (RBAC).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Bảng Ma trận Truy vết Yêu cầu (RTM) 4 cột chuẩn hóa: 100% (42/42) yêu cầu được liên kết mã nguồn và kiểm thử thành công.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KIẾN TRÚC TỔNG THỂ HỆ THỐNG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Phân Tầng Hướng Dịch Vụ Phi Đồng Bộ (Async Architecture — REQ-26)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Client Layer: React 19 + Vite 6 + Tailwind CSS v4 SPA. Tách biệt hoàn toàn qua API, tốc độ build ~2s, gói bundle gọn nhẹ (&lt; 420 KB).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Gateway Layer: FastAPI 100% Async ASGI, JWT HS256 Guard, Regex Gateway chặn Prompt Injection trong 0.05ms, mặt nạ hóa PII.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Core Engine: RAG Orchestrator phân lập workspace, Copilot Structured Output, 4 Agent Tools với PendingAction, 3-Agent Studio.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Dual AI Layer: Google Gemini 3.5 Flash Lite + Local Ollama Qwen2.5 3B + Okapi BM25 Non-AI Fallback.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Persistence Layer: PostgreSQL 16 pgvector (&lt;=&gt; cosine distance) trong Docker, tự động fallback sang SQLite async khi dev local.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QUYẾT ĐỊNH THIẾT KẾ KIẾN TRÚC (ADR-001..004)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Các Architecture Decision Records Nền Tảng (REQ-27)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ADR-001: Dual AI Provider &amp; Deterministic BM25 Fallback — 3 nấc bảo đảm 100% tính sẵn sàng dịch vụ.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ADR-002: Dual-Engine Vector Store (PostgreSQL pgvector + SQLite) — Tối ưu cho Production đồng thời thân thiện cho Local Dev.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ADR-003: 3-Agent Active Knowledge Verification Studio — Kiểm định độ trung thực tài liệu trước khi nạp vào RAG (ngưỡng &gt;= 85%).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ADR-004: Kiến trúc Frontend SPA React 19 + Vite 6 Thay Vì Next.js 14 SSR — Giao diện CSKH stateful, phản hồi streaming mượt mà.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MÔ HÌNH AI &amp; QUẢN TRỊ PROMPT TẬP TRUNG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Tối Ưu Hóa Độ Trễ, Chi Phí &amp; Tính Riêng Tư Đa Doanh Nghiệp (REQ-18, REQ-19)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Primary Cloud LLM: Google Gemini GA gemini-3.5-flash-lite (thinking_budget=0, temperature=0.2), độ trễ &lt; 1,200ms.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Mô hình Nhúng Chuẩn hóa: gemini-embedding-001 (768 chiều), tương thích hoàn hảo với nomic-embed-text của Ollama.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Quản lý Prompt Tập trung: Toàn bộ system prompts được phiên bản hóa trong backend/data/prompts.json và quản lý bằng Git.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Đa Persona theo Workspace: IT SaaS Enterprise (chuẩn mực), Nha Khoa SmileCare (thấu cảm y khoa), Điện Máy TechStore (đổi trả 30 ngày).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BỐN AGENT TOOLS &amp; THẺ XÁC NHẬN 2 PHA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Mở Rộng Năng Lực Tác Tử AI Có Kiểm Soát An Toàn (Capability B — REQ-14)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Tác tử AI hỗ trợ 4 công cụ thực tế: lookup_customer_tickets, create_escalation_ticket, update_ticket_priority_or_status, search_workspace_knowledge.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Cơ chế Xác Nhận 2 Pha (Two-Phase Execution): Các hành động thay đổi dữ liệu (tạo hoặc đổi ticket) không tự ý thực thi ngay.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Hệ thống sinh ra PendingAction với action_id duy nhất và hiển thị Thẻ Xác Nhận Thao Tác (Confirmation Card) trên màn hình chat.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Chỉ khi người dùng nhấp [Xác nhận thực thi], Backend mới chính thức ghi dữ liệu, ngăn ngừa thao tác nhầm lẫn do AI suy luận.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PYDANTIC V2 STRUCTURED OUTPUT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Chuẩn Hóa Dữ Liệu Ticket Triage Bằng Schema Nghiêm Ngặt (Capability C — REQ-15)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Toàn bộ kết quả phân loại ticket của AI Copilot được ép kiểu nghiêm ngặt bằng schema TicketCopilotStructuredOutput.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Chuẩn hóa 5 danh mục: Authentication, Billing, Bug Report (chuẩn hóa từ Technical Bug), Feature Request, General.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Tính cam kết thời hạn SLA chuẩn xác: Urgent (2 giờ), High (4 giờ), Medium (8 giờ), Low (24 giờ).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Tự động sinh 1–4 nhãn nhận diện (ai_tags), điểm tin cậy (confidence) và bản thảo câu trả lời tiếng Việt (ai_draft_reply).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STUDIO SÁT HẠCH TRI THỨC 3 TÁC TỬ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Active Knowledge Verification Studio Trước Khi Xuất Bản (Capability E — REQ-17)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Tác tử 1 — Synthetic QA Exam Agent: Đọc tài liệu và tự động sinh tập câu hỏi - câu trả lời thử thách thực tế.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Tác tử 2 — Sandbox RAG Runner: Gửi các câu hỏi thử thách vào pipeline RAG cô lập để trích xuất câu trả lời.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Tác tử 3 — Faithfulness Judge Agent: Đối soát câu trả lời với văn bản nguồn để chấm điểm độ trung thực (Faithfulness Score).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Chỉ các tài liệu đạt điểm trung thực &gt;= 85% mới được cấp phép xuất bản (published) vào cơ sở tri thức phục vụ khách hàng.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AN TOÀN BẢO MẬT &amp; QUYỀN RIÊNG TƯ DỮ LIỆU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Hàng Rào Chắn Prompt Injection &amp; Chính Sách Ẩn Danh PII (REQ-20, REQ-37)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Hàng rào Prompt Injection Song ngữ: Hàm check_prompt_injection quét regex phát hiện jailbreak cả Tiếng Anh và Tiếng Việt.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Chặn đứng tại Gateway trong 0.05ms với mã HTTP 400 (PROMPT_SECURITY_VIOLATION), không tốn token gọi mô hình.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Chính sách Ẩn danh Thông tin Cá nhân: Hàm redact_pii tự động làm mờ Email, Số điện thoại VN và CCCD/CMND thành [REDACTED_*].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Dữ liệu khách hàng được làm mờ triệt để trước khi truyền tải đến mô hình nhúng và Google Gemini 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COST-GUARD CIRCUIT BREAKER &amp; BM25 FALLBACK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Bảo Đảm Tính Sẵn Sàng 100% Khi LLM Gặp Sự Cố (REQ-20, REQ-23)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Cost-Guard Circuit Breaker: Tự động kích hoạt khi gọi Gemini bị timeout &gt; 4.0s hoặc trả về mã lỗi HTTP 429 Resource Exhausted.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Hệ thống tự động khóa cổng gọi Cloud trong 60 giây (FREE_TIER_RATE_LIMIT_COOLDOWN) và chuyển sang Okapi BM25 cục bộ.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Dự phòng phi AI mượt mà: Truy xuất câu trả lời phù hợp nhất từ 12 bài viết FAQ chuẩn trong seed_faq.json chỉ trong 12–18ms.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Hiển thị thông báo minh bạch, banner đề xuất tạo ticket khẩn cấp, và cung cấp nút mở khóa Cooldown trên Telemetry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KẾT QUẢ THỰC NGHIỆM BỘ 24 TEST CASES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Đột Phá Hiệu Năng Từ Baseline 33.3% Lên 100.0% (REQ-21, REQ-22)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Bộ dữ liệu đánh giá chuẩn gồm 24 kịch bản (10 Normal, 6 Edge, 8 Should-Refuse) công khai minh bạch (0 held-out cases).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Tỷ lệ đạt ban đầu (Baseline): 8 / 24 (33.3%) do thiếu hybrid retrieval, chưa có regex Tiếng Việt và lỗi phân tích cú pháp JSON thô.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Tỷ lệ sau tối ưu (Upgraded): 24 / 24 (100.0%) — Tăng trưởng ngoạn mục +66.7% (+16 test cases đạt chuẩn).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Bộ kiểm thử tự động Pytest: 139 passed, 2 skipped trong 56.94 giây; chi phí trung bình cực thấp (~$0.00021 USD / truy vấn).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BẢO MẬT JWT HS256 &amp; PHÂN QUYỀN RBAC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Kiểm Soát Quyền Hạn &amp; Cô Lập Dữ Liệu Khách Hàng Tuyệt Đối (REQ-09, REQ-36)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Hệ thống xác thực Bearer JWT HS256 có thời hạn và khóa mã hóa bí mật lưu trong backend/.env.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Phân quyền 2 vai trò chuẩn: admin (Toàn quyền quản trị, triage ticket, sát hạch tri thức) và user (Khách hàng thông thường).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Cô lập dữ liệu nghiêm ngặt: Khách hàng chỉ xem được các ticket do chính email của mình tạo ra (0% rò rỉ dữ liệu).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Giao diện Frontend tự động ẩn và khóa các tab Agent Dashboard và Knowledge Studio khi đăng nhập dưới vai trò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KẾT LUẬN &amp; ĐỊNH HƯỚNG TƯƠNG LAI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t>Tổng Kết Đóng Góp, Quyết Định Phạm Vi &amp; Lộ Trình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Tổng kết thành tựu: Xây dựng trọn vẹn nền tảng CSKH thông minh đáp ứng 100% 42 yêu cầu chuẩn mực và 12 User Stories.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Ghi nhận giới hạn phạm vi REQ-16: Nhóm tập trung nguồn lực xây dựng 4 năng lực AI cốt lõi (A, B, C, E), quyết định không chọn năng lực D.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Khắc phục triệt để tồn đọng MRG-DEF-01: Rebuild slide tự động chuẩn hóa nhân sự; giải quyết lệch chiều vector đám mây MRG-DEF-10.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Định hướng tương lai: Tích hợp Gemini 2.0 Flash Vision đọc biểu đồ PDF, BGE-Reranker nâng cao độ chính xác và kết nối đa kênh Omnichannel.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Arial"/>
              </a:defRPr>
            </a:pPr>
            <a:r>
              <a:t>SmartDesk AI — Bảo Vệ Đồ Án Cuối Kỳ | Slide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